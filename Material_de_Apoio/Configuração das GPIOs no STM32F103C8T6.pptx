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1" r:id="rId2"/>
    <p:sldId id="2562" r:id="rId3"/>
    <p:sldId id="2563" r:id="rId4"/>
    <p:sldId id="2564" r:id="rId5"/>
    <p:sldId id="2565" r:id="rId6"/>
    <p:sldId id="2566" r:id="rId7"/>
    <p:sldId id="2567" r:id="rId8"/>
    <p:sldId id="2568" r:id="rId9"/>
    <p:sldId id="2569" r:id="rId10"/>
    <p:sldId id="2570" r:id="rId11"/>
    <p:sldId id="2571" r:id="rId12"/>
    <p:sldId id="2572" r:id="rId13"/>
    <p:sldId id="2573" r:id="rId14"/>
    <p:sldId id="2574" r:id="rId15"/>
    <p:sldId id="2576" r:id="rId16"/>
    <p:sldId id="2575" r:id="rId17"/>
    <p:sldId id="2577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F10E1B-5D41-43B2-9B5D-0514466A88F1}" type="datetimeFigureOut">
              <a:rPr lang="pt-BR" smtClean="0"/>
              <a:t>07/04/2025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8AD166-B78C-4AB1-ABA7-579F2A0DA8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6344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Os conteúdos gerados pela IA podem estar incorretos.
---
Neste guia, abordaremos a configuração das GPIOs no microcontrolador STM32F103C8T6, um dos chips mais populares da série STM32. Vamos explorar desde a configuração de pinos como entrada ou saída até o tratamento de interrupções e debounce de botões.
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DA9FF5-ADF5-458C-B776-310CC5232665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7392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AD166-B78C-4AB1-ABA7-579F2A0DA800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4024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632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663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958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553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753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831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618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44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217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656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39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661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56C5C09-0043-4549-B800-2101B70D6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FAE9D93-C32F-EB08-8F5F-DBF4D1F59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9469" y="5895515"/>
            <a:ext cx="11572568" cy="910254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pt-BR" sz="4000" dirty="0"/>
              <a:t>Configuração das </a:t>
            </a:r>
            <a:r>
              <a:rPr lang="pt-BR" sz="4000" dirty="0" err="1"/>
              <a:t>GPIOs</a:t>
            </a:r>
            <a:r>
              <a:rPr lang="pt-BR" sz="4000" dirty="0"/>
              <a:t> no STM32F103C8T6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373057E-E881-3860-1FA7-9F83E3CAC3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99869" y="5275825"/>
            <a:ext cx="4983481" cy="1070177"/>
          </a:xfrm>
        </p:spPr>
        <p:txBody>
          <a:bodyPr anchor="t">
            <a:normAutofit/>
          </a:bodyPr>
          <a:lstStyle/>
          <a:p>
            <a:endParaRPr lang="pt-BR" sz="2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23493" y="508090"/>
            <a:ext cx="4983481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STM32F103C8T6_Hello - Using low cost Bluepill (STM32F103C8T6) boards wi… |  Mbed">
            <a:extLst>
              <a:ext uri="{FF2B5EF4-FFF2-40B4-BE49-F238E27FC236}">
                <a16:creationId xmlns:a16="http://schemas.microsoft.com/office/drawing/2014/main" id="{1ECB4403-09A8-A53C-0A47-CA0724691E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459" y="126259"/>
            <a:ext cx="10606515" cy="5642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3385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150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 nodePh="1">
                                  <p:stCondLst>
                                    <p:cond delay="25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3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012514-19D9-96A3-A959-3AEB27564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19218"/>
          </a:xfrm>
        </p:spPr>
        <p:txBody>
          <a:bodyPr/>
          <a:lstStyle/>
          <a:p>
            <a:r>
              <a:rPr lang="pt-BR" dirty="0"/>
              <a:t>Principais passos: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69B5E94-8233-FE37-107E-99F0454BB3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897626"/>
            <a:ext cx="11155680" cy="4448310"/>
          </a:xfrm>
        </p:spPr>
        <p:txBody>
          <a:bodyPr>
            <a:normAutofit/>
          </a:bodyPr>
          <a:lstStyle/>
          <a:p>
            <a:r>
              <a:rPr lang="pt-BR" sz="2800" dirty="0"/>
              <a:t>Configurar o </a:t>
            </a:r>
            <a:r>
              <a:rPr lang="pt-BR" sz="2800" dirty="0" err="1"/>
              <a:t>clock</a:t>
            </a:r>
            <a:r>
              <a:rPr lang="pt-BR" sz="2800" dirty="0"/>
              <a:t>.</a:t>
            </a:r>
          </a:p>
          <a:p>
            <a:r>
              <a:rPr lang="pt-BR" sz="2800" dirty="0"/>
              <a:t>Selecionar os pinos e a função deles: Saída Digital, Entrada Digital, etc.</a:t>
            </a:r>
          </a:p>
          <a:p>
            <a:r>
              <a:rPr lang="pt-BR" sz="2800" dirty="0"/>
              <a:t>Escrever o código para controlar o estado dos pinos e/ou coletar o estado deles.</a:t>
            </a:r>
          </a:p>
        </p:txBody>
      </p:sp>
    </p:spTree>
    <p:extLst>
      <p:ext uri="{BB962C8B-B14F-4D97-AF65-F5344CB8AC3E}">
        <p14:creationId xmlns:p14="http://schemas.microsoft.com/office/powerpoint/2010/main" val="4083178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597623EE-4F0D-175A-A593-78D4DF639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528" y="100978"/>
            <a:ext cx="11418943" cy="6419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109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0DF1752-C677-6ACF-96B8-47FF30F72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867" y="158127"/>
            <a:ext cx="11482179" cy="6275330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7D878206-0BEC-E187-F0B9-1F5C4C4C2510}"/>
              </a:ext>
            </a:extLst>
          </p:cNvPr>
          <p:cNvSpPr/>
          <p:nvPr/>
        </p:nvSpPr>
        <p:spPr>
          <a:xfrm>
            <a:off x="7837714" y="2536371"/>
            <a:ext cx="914400" cy="118654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7315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3FAB7AE4-63A1-CC68-6826-B8A4A4CCE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99" y="0"/>
            <a:ext cx="11938602" cy="6858000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B84A7877-3E16-A15A-4C49-767040220516}"/>
              </a:ext>
            </a:extLst>
          </p:cNvPr>
          <p:cNvSpPr/>
          <p:nvPr/>
        </p:nvSpPr>
        <p:spPr>
          <a:xfrm rot="16200000">
            <a:off x="738834" y="1275074"/>
            <a:ext cx="387364" cy="161163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9CE0B17-490C-10BA-58D0-EAFB57689E05}"/>
              </a:ext>
            </a:extLst>
          </p:cNvPr>
          <p:cNvSpPr txBox="1"/>
          <p:nvPr/>
        </p:nvSpPr>
        <p:spPr>
          <a:xfrm>
            <a:off x="6683829" y="5736771"/>
            <a:ext cx="495443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Após configurar o </a:t>
            </a:r>
            <a:r>
              <a:rPr lang="pt-BR" dirty="0" err="1"/>
              <a:t>clock</a:t>
            </a:r>
            <a:r>
              <a:rPr lang="pt-BR" dirty="0"/>
              <a:t> e os pinos que vai usar, </a:t>
            </a:r>
          </a:p>
          <a:p>
            <a:r>
              <a:rPr lang="pt-BR" dirty="0"/>
              <a:t>use a opção para gerar o código HAL com as </a:t>
            </a:r>
          </a:p>
          <a:p>
            <a:r>
              <a:rPr lang="pt-BR" dirty="0"/>
              <a:t>configurações.</a:t>
            </a:r>
          </a:p>
        </p:txBody>
      </p:sp>
    </p:spTree>
    <p:extLst>
      <p:ext uri="{BB962C8B-B14F-4D97-AF65-F5344CB8AC3E}">
        <p14:creationId xmlns:p14="http://schemas.microsoft.com/office/powerpoint/2010/main" val="3118743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ED2A3E6-78D2-BAE8-8323-AFAE7BA50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8713" y="1354137"/>
            <a:ext cx="7275659" cy="170308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380D960D-9CE4-4525-5288-0D936BA4A3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8713" y="3800783"/>
            <a:ext cx="6826570" cy="1602884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4F087DB3-9828-B44D-87C7-C941AFB1E879}"/>
              </a:ext>
            </a:extLst>
          </p:cNvPr>
          <p:cNvSpPr txBox="1"/>
          <p:nvPr/>
        </p:nvSpPr>
        <p:spPr>
          <a:xfrm>
            <a:off x="2764971" y="522515"/>
            <a:ext cx="21187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/>
              <a:t>Write Pin</a:t>
            </a:r>
            <a:endParaRPr lang="pt-BR" b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A4C2D14-45F9-06D8-6743-55D7BC3CA6AA}"/>
              </a:ext>
            </a:extLst>
          </p:cNvPr>
          <p:cNvSpPr txBox="1"/>
          <p:nvPr/>
        </p:nvSpPr>
        <p:spPr>
          <a:xfrm>
            <a:off x="2764971" y="3057217"/>
            <a:ext cx="23168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 err="1"/>
              <a:t>Toggle</a:t>
            </a:r>
            <a:r>
              <a:rPr lang="pt-BR" sz="3600" b="1" dirty="0"/>
              <a:t> Pin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624553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F53ECD-C8AF-57AF-6E4F-1106B0C95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48363"/>
          </a:xfrm>
        </p:spPr>
        <p:txBody>
          <a:bodyPr>
            <a:normAutofit fontScale="90000"/>
          </a:bodyPr>
          <a:lstStyle/>
          <a:p>
            <a:r>
              <a:rPr lang="pt-BR" b="1" dirty="0" err="1"/>
              <a:t>HAL_GPIO_WritePin</a:t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59223FA-D587-4AAB-C0E5-2BFCFE2037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850571"/>
            <a:ext cx="11155680" cy="449536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pt-BR" sz="2400" dirty="0"/>
              <a:t>Esta função é usada para definir o estado de um pino GPIO específico, podendo colocá-lo em nível alto (HIGH/SET) ou baixo (LOW/RESET).</a:t>
            </a:r>
          </a:p>
          <a:p>
            <a:pPr marL="0" indent="0">
              <a:buNone/>
            </a:pPr>
            <a:r>
              <a:rPr lang="pt-BR" sz="2200" b="1" dirty="0" err="1"/>
              <a:t>void</a:t>
            </a:r>
            <a:r>
              <a:rPr lang="pt-BR" sz="2200" b="1" dirty="0"/>
              <a:t> </a:t>
            </a:r>
            <a:r>
              <a:rPr lang="pt-BR" sz="2200" b="1" dirty="0" err="1"/>
              <a:t>HAL_GPIO_WritePin</a:t>
            </a:r>
            <a:r>
              <a:rPr lang="pt-BR" sz="2200" b="1" dirty="0"/>
              <a:t>(</a:t>
            </a:r>
            <a:r>
              <a:rPr lang="pt-BR" sz="2200" b="1" dirty="0" err="1"/>
              <a:t>GPIO_TypeDef</a:t>
            </a:r>
            <a:r>
              <a:rPr lang="pt-BR" sz="2200" b="1" dirty="0"/>
              <a:t> *</a:t>
            </a:r>
            <a:r>
              <a:rPr lang="pt-BR" sz="2200" b="1" dirty="0" err="1"/>
              <a:t>GPIOx</a:t>
            </a:r>
            <a:r>
              <a:rPr lang="pt-BR" sz="2200" b="1" dirty="0"/>
              <a:t>, uint16_t </a:t>
            </a:r>
            <a:r>
              <a:rPr lang="pt-BR" sz="2200" b="1" dirty="0" err="1"/>
              <a:t>GPIO_Pin</a:t>
            </a:r>
            <a:r>
              <a:rPr lang="pt-BR" sz="2200" b="1" dirty="0"/>
              <a:t>, </a:t>
            </a:r>
            <a:r>
              <a:rPr lang="pt-BR" sz="2200" b="1" dirty="0" err="1"/>
              <a:t>GPIO_PinState</a:t>
            </a:r>
            <a:r>
              <a:rPr lang="pt-BR" sz="2200" b="1" dirty="0"/>
              <a:t> </a:t>
            </a:r>
            <a:r>
              <a:rPr lang="pt-BR" sz="2200" b="1" dirty="0" err="1"/>
              <a:t>PinState</a:t>
            </a:r>
            <a:r>
              <a:rPr lang="pt-BR" sz="2200" b="1" dirty="0"/>
              <a:t>);</a:t>
            </a:r>
          </a:p>
          <a:p>
            <a:pPr>
              <a:buNone/>
            </a:pPr>
            <a:r>
              <a:rPr lang="pt-BR" sz="2400" b="1" dirty="0"/>
              <a:t>Parâmetros: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b="1" dirty="0" err="1"/>
              <a:t>GPIOx</a:t>
            </a:r>
            <a:r>
              <a:rPr lang="pt-BR" sz="2400" dirty="0"/>
              <a:t>: Ponteiro para o registro da porta GPIO (GPIOA, GPIOB, GPIOC, etc.)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b="1" dirty="0" err="1"/>
              <a:t>GPIO_Pin</a:t>
            </a:r>
            <a:r>
              <a:rPr lang="pt-BR" sz="2400" dirty="0"/>
              <a:t>: Especifica o pino a ser configurado, usando macros como GPIO_PIN_0, GPIO_PIN_1, ..., GPIO_PIN_15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b="1" dirty="0" err="1"/>
              <a:t>PinState</a:t>
            </a:r>
            <a:r>
              <a:rPr lang="pt-BR" sz="2400" dirty="0"/>
              <a:t>: Estado desejado para o pino, podendo ser: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000" dirty="0"/>
              <a:t>GPIO_PIN_SET (ou 1): Coloca o pino em nível alto (3.3V)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000" dirty="0"/>
              <a:t>GPIO_PIN_RESET (ou 0): Coloca o pino em nível baixo (0V)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76700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8185A4-BBBD-BB5F-D8AA-2258C3D03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74192"/>
          </a:xfrm>
        </p:spPr>
        <p:txBody>
          <a:bodyPr>
            <a:normAutofit fontScale="90000"/>
          </a:bodyPr>
          <a:lstStyle/>
          <a:p>
            <a:r>
              <a:rPr lang="pt-BR" b="1" dirty="0" err="1"/>
              <a:t>HAL_GPIO_TogglePin</a:t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3C2C44-2268-FF56-E2EC-37A62AAA5D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752600"/>
            <a:ext cx="11155680" cy="459333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sz="2400" dirty="0"/>
              <a:t>Esta função inverte o estado atual de um pino GPIO específico. Se o pino estiver em nível alto, a função o coloca em nível baixo, e vice-versa.</a:t>
            </a:r>
          </a:p>
          <a:p>
            <a:pPr marL="0" indent="0">
              <a:buNone/>
            </a:pPr>
            <a:r>
              <a:rPr lang="pt-BR" b="1" dirty="0" err="1"/>
              <a:t>void</a:t>
            </a:r>
            <a:r>
              <a:rPr lang="pt-BR" b="1" dirty="0"/>
              <a:t> </a:t>
            </a:r>
            <a:r>
              <a:rPr lang="pt-BR" b="1" dirty="0" err="1"/>
              <a:t>HAL_GPIO_TogglePin</a:t>
            </a:r>
            <a:r>
              <a:rPr lang="pt-BR" b="1" dirty="0"/>
              <a:t>(</a:t>
            </a:r>
            <a:r>
              <a:rPr lang="pt-BR" b="1" dirty="0" err="1"/>
              <a:t>GPIO_TypeDef</a:t>
            </a:r>
            <a:r>
              <a:rPr lang="pt-BR" b="1" dirty="0"/>
              <a:t> *</a:t>
            </a:r>
            <a:r>
              <a:rPr lang="pt-BR" b="1" dirty="0" err="1"/>
              <a:t>GPIOx</a:t>
            </a:r>
            <a:r>
              <a:rPr lang="pt-BR" b="1" dirty="0"/>
              <a:t>, uint16_t </a:t>
            </a:r>
            <a:r>
              <a:rPr lang="pt-BR" b="1" dirty="0" err="1"/>
              <a:t>GPIO_Pin</a:t>
            </a:r>
            <a:r>
              <a:rPr lang="pt-BR" b="1" dirty="0"/>
              <a:t>);</a:t>
            </a:r>
          </a:p>
          <a:p>
            <a:pPr>
              <a:buNone/>
            </a:pPr>
            <a:r>
              <a:rPr lang="pt-BR" sz="2400" b="1" dirty="0"/>
              <a:t>Parâmetros: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b="1" dirty="0" err="1"/>
              <a:t>GPIOx</a:t>
            </a:r>
            <a:r>
              <a:rPr lang="pt-BR" sz="2400" dirty="0"/>
              <a:t>: Ponteiro para o registro da porta GPIO (GPIOA, GPIOB, GPIOC, etc.)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b="1" dirty="0" err="1"/>
              <a:t>GPIO_Pin</a:t>
            </a:r>
            <a:r>
              <a:rPr lang="pt-BR" sz="2400" dirty="0"/>
              <a:t>: Especifica o pino a ser invertido, usando macros como GPIO_PIN_0, GPIO_PIN_1, ..., GPIO_PIN_15</a:t>
            </a:r>
          </a:p>
          <a:p>
            <a:pPr>
              <a:buFont typeface="Arial" panose="020B0604020202020204" pitchFamily="34" charset="0"/>
              <a:buChar char="•"/>
            </a:pPr>
            <a:endParaRPr lang="pt-BR" dirty="0"/>
          </a:p>
          <a:p>
            <a:pPr>
              <a:buNone/>
            </a:pPr>
            <a:r>
              <a:rPr lang="pt-BR" b="1" dirty="0"/>
              <a:t>Funcionamento interno:</a:t>
            </a:r>
          </a:p>
          <a:p>
            <a:r>
              <a:rPr lang="pt-BR" dirty="0"/>
              <a:t>A função </a:t>
            </a:r>
            <a:r>
              <a:rPr lang="pt-BR" dirty="0" err="1"/>
              <a:t>HAL_GPIO_TogglePin</a:t>
            </a:r>
            <a:r>
              <a:rPr lang="pt-BR" dirty="0"/>
              <a:t> lê o estado atual do pino usando o registro ODR (Output Data Register), inverte o bit usando uma operação XOR e escreve o novo valor de volta no registro ODR.</a:t>
            </a:r>
          </a:p>
          <a:p>
            <a:pPr>
              <a:buFont typeface="Arial" panose="020B0604020202020204" pitchFamily="34" charset="0"/>
              <a:buChar char="•"/>
            </a:pP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809426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94DC44-C628-0491-D0C4-FCC11A7FC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5305BE-214E-63A5-7EE4-621F80C7B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23C62E9-BA8A-E84D-809A-AA4A9CE06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8102"/>
            <a:ext cx="12192000" cy="544179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840295D3-CBB2-98F4-0E8E-BC6BD7C73E91}"/>
              </a:ext>
            </a:extLst>
          </p:cNvPr>
          <p:cNvSpPr/>
          <p:nvPr/>
        </p:nvSpPr>
        <p:spPr>
          <a:xfrm>
            <a:off x="141514" y="2286000"/>
            <a:ext cx="1219200" cy="4136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07B7DA6F-FAD4-9E86-B631-6C7E92CE961B}"/>
              </a:ext>
            </a:extLst>
          </p:cNvPr>
          <p:cNvSpPr/>
          <p:nvPr/>
        </p:nvSpPr>
        <p:spPr>
          <a:xfrm>
            <a:off x="1240971" y="5334000"/>
            <a:ext cx="5584372" cy="4136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00CB6E4-FB6C-924E-2844-CF08798B8FF0}"/>
              </a:ext>
            </a:extLst>
          </p:cNvPr>
          <p:cNvSpPr/>
          <p:nvPr/>
        </p:nvSpPr>
        <p:spPr>
          <a:xfrm>
            <a:off x="8686800" y="5094515"/>
            <a:ext cx="783771" cy="87085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7486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16A8FE-362E-6A06-F703-169C7989A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85078"/>
          </a:xfrm>
        </p:spPr>
        <p:txBody>
          <a:bodyPr/>
          <a:lstStyle/>
          <a:p>
            <a:r>
              <a:rPr lang="pt-BR" dirty="0" err="1"/>
              <a:t>HAL_GPIO_ReadPin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EDFAE6-3B6E-A9D1-0A36-F39C1DD140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579" y="1981200"/>
            <a:ext cx="11155680" cy="45497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dirty="0"/>
              <a:t>Função para Leitura de Entrada Digital. A função </a:t>
            </a:r>
            <a:r>
              <a:rPr lang="pt-BR" sz="2400" dirty="0" err="1"/>
              <a:t>HAL_GPIO_ReadPin</a:t>
            </a:r>
            <a:r>
              <a:rPr lang="pt-BR" sz="2400" dirty="0"/>
              <a:t> é utilizada na biblioteca HAL (Hardware </a:t>
            </a:r>
            <a:r>
              <a:rPr lang="pt-BR" sz="2400" dirty="0" err="1"/>
              <a:t>Abstraction</a:t>
            </a:r>
            <a:r>
              <a:rPr lang="pt-BR" sz="2400" dirty="0"/>
              <a:t> </a:t>
            </a:r>
            <a:r>
              <a:rPr lang="pt-BR" sz="2400" dirty="0" err="1"/>
              <a:t>Layer</a:t>
            </a:r>
            <a:r>
              <a:rPr lang="pt-BR" sz="2400" dirty="0"/>
              <a:t>) do STM32 para realizar a leitura do estado atual de um pino GPIO configurado como entrada digital.</a:t>
            </a:r>
          </a:p>
          <a:p>
            <a:pPr marL="0" indent="0">
              <a:buNone/>
            </a:pPr>
            <a:r>
              <a:rPr lang="pt-BR" sz="2400" b="1" dirty="0" err="1"/>
              <a:t>GPIO_PinState</a:t>
            </a:r>
            <a:r>
              <a:rPr lang="pt-BR" sz="2400" b="1" dirty="0"/>
              <a:t> </a:t>
            </a:r>
            <a:r>
              <a:rPr lang="pt-BR" sz="2400" b="1" dirty="0" err="1"/>
              <a:t>HAL_GPIO_ReadPin</a:t>
            </a:r>
            <a:r>
              <a:rPr lang="pt-BR" sz="2400" b="1" dirty="0"/>
              <a:t>(</a:t>
            </a:r>
            <a:r>
              <a:rPr lang="pt-BR" sz="2400" b="1" dirty="0" err="1"/>
              <a:t>GPIO_TypeDef</a:t>
            </a:r>
            <a:r>
              <a:rPr lang="pt-BR" sz="2400" b="1" dirty="0"/>
              <a:t> *</a:t>
            </a:r>
            <a:r>
              <a:rPr lang="pt-BR" sz="2400" b="1" dirty="0" err="1"/>
              <a:t>GPIOx</a:t>
            </a:r>
            <a:r>
              <a:rPr lang="pt-BR" sz="2400" b="1" dirty="0"/>
              <a:t>, uint16_t </a:t>
            </a:r>
            <a:r>
              <a:rPr lang="pt-BR" sz="2400" b="1" dirty="0" err="1"/>
              <a:t>GPIO_Pin</a:t>
            </a:r>
            <a:r>
              <a:rPr lang="pt-BR" sz="2400" b="1" dirty="0"/>
              <a:t>);</a:t>
            </a:r>
          </a:p>
          <a:p>
            <a:pPr>
              <a:buNone/>
            </a:pPr>
            <a:r>
              <a:rPr lang="pt-BR" sz="2400" b="1" dirty="0"/>
              <a:t>Parâmetros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b="1" dirty="0" err="1"/>
              <a:t>GPIOx</a:t>
            </a:r>
            <a:r>
              <a:rPr lang="pt-BR" sz="2400" dirty="0"/>
              <a:t>: Ponteiro para o registro da porta GPIO (GPIOA, GPIOB, GPIOC, etc.)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b="1" dirty="0" err="1"/>
              <a:t>GPIO_Pin</a:t>
            </a:r>
            <a:r>
              <a:rPr lang="pt-BR" sz="2400" dirty="0"/>
              <a:t>: Especifica o pino a ser lido, usando macros como GPIO_PIN_0, GPIO_PIN_1, ..., GPIO_PIN_15</a:t>
            </a:r>
          </a:p>
          <a:p>
            <a:pPr marL="0" indent="0">
              <a:buNone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2440384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386888-47F6-F9A6-030C-6E78D83FA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15C6FB27-6863-8BA3-6E70-F03D9C28C6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6311" y="815915"/>
            <a:ext cx="11279377" cy="5226170"/>
          </a:xfrm>
        </p:spPr>
      </p:pic>
    </p:spTree>
    <p:extLst>
      <p:ext uri="{BB962C8B-B14F-4D97-AF65-F5344CB8AC3E}">
        <p14:creationId xmlns:p14="http://schemas.microsoft.com/office/powerpoint/2010/main" val="17390339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35C81D-A6C3-7282-2D5D-4A59DA5DD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24662"/>
          </a:xfrm>
        </p:spPr>
        <p:txBody>
          <a:bodyPr>
            <a:normAutofit fontScale="90000"/>
          </a:bodyPr>
          <a:lstStyle/>
          <a:p>
            <a:r>
              <a:rPr kumimoji="0" lang="pt-BR" altLang="pt-BR" sz="4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Debounce</a:t>
            </a:r>
            <a:r>
              <a:rPr kumimoji="0" lang="pt-BR" altLang="pt-BR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Botão</a:t>
            </a:r>
            <a:endParaRPr lang="pt-B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F3AECA6-88F7-47CD-75DF-375A0056B3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8160" y="1703070"/>
            <a:ext cx="11155680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</a:t>
            </a:r>
            <a:r>
              <a:rPr kumimoji="0" lang="pt-BR" altLang="pt-BR" sz="24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debounce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é uma técnica essencial quando trabalhamos com botões físicos em microcontroladores. Quando um botão mecânico é pressionado ou liberado, os contatos metálicos não fazem uma transição limpa entre os estados, mas sim "quicam" (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bounce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várias vezes por um curto período (geralmente 5-20ms), gerando múltiplos pulsos falsos que podem ser interpretados como vários pressionamentos.</a:t>
            </a:r>
            <a:endParaRPr kumimoji="0" lang="pt-BR" altLang="pt-BR" sz="4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6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5" name="Picture 3">
            <a:extLst>
              <a:ext uri="{FF2B5EF4-FFF2-40B4-BE49-F238E27FC236}">
                <a16:creationId xmlns:a16="http://schemas.microsoft.com/office/drawing/2014/main" id="{325A628B-49B7-7D7F-D2A8-DC4E720F6E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9307" y="3897750"/>
            <a:ext cx="4889078" cy="3145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00981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2CDDC-3243-E014-FCCE-1A79958D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068106"/>
          </a:xfrm>
        </p:spPr>
        <p:txBody>
          <a:bodyPr>
            <a:normAutofit fontScale="90000"/>
          </a:bodyPr>
          <a:lstStyle/>
          <a:p>
            <a:r>
              <a:rPr kumimoji="0" lang="pt-BR" altLang="pt-BR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Por que o </a:t>
            </a:r>
            <a:r>
              <a:rPr kumimoji="0" lang="pt-BR" altLang="pt-BR" sz="4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Debounce</a:t>
            </a:r>
            <a:r>
              <a:rPr kumimoji="0" lang="pt-BR" altLang="pt-BR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é Necessário?</a:t>
            </a:r>
            <a:br>
              <a:rPr kumimoji="0" lang="pt-BR" altLang="pt-BR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AB71240-60C5-11AE-E6A5-02F194FA1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7" y="2046514"/>
            <a:ext cx="11344221" cy="4299422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Sem </a:t>
            </a:r>
            <a:r>
              <a:rPr kumimoji="0" lang="pt-BR" altLang="pt-B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debounce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um único pressionamento de botão pode resultar em: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Múltiplas ações sendo executadas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Contagens incorretas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Comportamento imprevisível no sistema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889643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DF4666-C80A-2B05-5BF4-43A6BD5F0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95963"/>
          </a:xfrm>
        </p:spPr>
        <p:txBody>
          <a:bodyPr/>
          <a:lstStyle/>
          <a:p>
            <a:r>
              <a:rPr lang="pt-BR" b="1" dirty="0" err="1"/>
              <a:t>Debounce</a:t>
            </a:r>
            <a:r>
              <a:rPr lang="pt-BR" b="1" dirty="0"/>
              <a:t> com Delay Simples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4DE746-F1A1-7193-28EC-A031CEF4E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992086"/>
            <a:ext cx="11155680" cy="4353850"/>
          </a:xfrm>
        </p:spPr>
        <p:txBody>
          <a:bodyPr/>
          <a:lstStyle/>
          <a:p>
            <a:pPr marL="0" indent="0">
              <a:buNone/>
            </a:pPr>
            <a:r>
              <a:rPr lang="pt-BR" sz="2400" dirty="0"/>
              <a:t>Esta é a técnica mais básica e consiste em esperar um período curto após detectar uma mudança no estado do botão.</a:t>
            </a: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E9A1225-E5BD-C7F5-454C-AA12F7DF0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1321" y="3304604"/>
            <a:ext cx="8984153" cy="1811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7112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8AF886-2CCD-99F6-17F9-EB6913BEA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Debounce</a:t>
            </a:r>
            <a:r>
              <a:rPr lang="pt-BR" dirty="0"/>
              <a:t> verificando estado anterior com </a:t>
            </a:r>
            <a:r>
              <a:rPr lang="pt-BR" dirty="0" err="1"/>
              <a:t>interlock</a:t>
            </a:r>
            <a:r>
              <a:rPr lang="pt-BR" dirty="0"/>
              <a:t>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8A16BC-8FE5-6563-F023-59C0D167E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dirty="0"/>
              <a:t>Como Funciona:</a:t>
            </a:r>
          </a:p>
          <a:p>
            <a:r>
              <a:rPr lang="pt-BR" sz="2400" dirty="0"/>
              <a:t>Mantemos dois estados: a última leitura (</a:t>
            </a:r>
            <a:r>
              <a:rPr lang="pt-BR" sz="2400" dirty="0" err="1"/>
              <a:t>ultimoEstadoBotao</a:t>
            </a:r>
            <a:r>
              <a:rPr lang="pt-BR" sz="2400" dirty="0"/>
              <a:t>) e o estado confirmado estável (</a:t>
            </a:r>
            <a:r>
              <a:rPr lang="pt-BR" sz="2400" dirty="0" err="1"/>
              <a:t>estadoEstavel</a:t>
            </a:r>
            <a:r>
              <a:rPr lang="pt-BR" sz="2400" dirty="0"/>
              <a:t>);</a:t>
            </a:r>
          </a:p>
          <a:p>
            <a:r>
              <a:rPr lang="pt-BR" sz="2400" dirty="0"/>
              <a:t>Quando detectamos uma mudança na leitura, reiniciamos o temporizador;</a:t>
            </a:r>
          </a:p>
          <a:p>
            <a:r>
              <a:rPr lang="pt-BR" sz="2400" dirty="0"/>
              <a:t>Só atualizamos o estado estável após o período de </a:t>
            </a:r>
            <a:r>
              <a:rPr lang="pt-BR" sz="2400" dirty="0" err="1"/>
              <a:t>debounce</a:t>
            </a:r>
            <a:r>
              <a:rPr lang="pt-BR" sz="2400" dirty="0"/>
              <a:t>;</a:t>
            </a:r>
          </a:p>
          <a:p>
            <a:r>
              <a:rPr lang="pt-BR" sz="2400" dirty="0"/>
              <a:t>Usamos uma flag adicional (</a:t>
            </a:r>
            <a:r>
              <a:rPr lang="pt-BR" sz="2400" dirty="0" err="1"/>
              <a:t>acaoBotaoExecutada</a:t>
            </a:r>
            <a:r>
              <a:rPr lang="pt-BR" sz="2400" dirty="0"/>
              <a:t>) para garantir que a ação seja executada apenas uma vez por pressionamento.</a:t>
            </a:r>
          </a:p>
        </p:txBody>
      </p:sp>
    </p:spTree>
    <p:extLst>
      <p:ext uri="{BB962C8B-B14F-4D97-AF65-F5344CB8AC3E}">
        <p14:creationId xmlns:p14="http://schemas.microsoft.com/office/powerpoint/2010/main" val="22462136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65B28A-8008-6F4B-4992-451716368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7A6624-961C-E2F2-2D2F-0C7EE80BE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A097DF7-A3FE-F5D5-59A1-EF90560406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984"/>
            <a:ext cx="12191999" cy="6828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8567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4D61C1-C360-46CC-0A71-17F4CD341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26592"/>
          </a:xfrm>
        </p:spPr>
        <p:txBody>
          <a:bodyPr/>
          <a:lstStyle/>
          <a:p>
            <a:r>
              <a:rPr lang="pt-BR" dirty="0"/>
              <a:t>Função </a:t>
            </a:r>
            <a:r>
              <a:rPr lang="pt-BR" dirty="0" err="1"/>
              <a:t>HAL_GetTick</a:t>
            </a:r>
            <a:r>
              <a:rPr lang="pt-BR" dirty="0"/>
              <a:t>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BEF401C-F329-F906-22CD-E47EB121C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785257"/>
            <a:ext cx="11155680" cy="45606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dirty="0"/>
              <a:t>A função </a:t>
            </a:r>
            <a:r>
              <a:rPr lang="pt-BR" sz="2400" dirty="0" err="1"/>
              <a:t>HAL_GetTick</a:t>
            </a:r>
            <a:r>
              <a:rPr lang="pt-BR" sz="2400" dirty="0"/>
              <a:t>() é uma das funções mais úteis e frequentemente utilizadas na biblioteca HAL (Hardware </a:t>
            </a:r>
            <a:r>
              <a:rPr lang="pt-BR" sz="2400" dirty="0" err="1"/>
              <a:t>Abstraction</a:t>
            </a:r>
            <a:r>
              <a:rPr lang="pt-BR" sz="2400" dirty="0"/>
              <a:t> </a:t>
            </a:r>
            <a:r>
              <a:rPr lang="pt-BR" sz="2400" dirty="0" err="1"/>
              <a:t>Layer</a:t>
            </a:r>
            <a:r>
              <a:rPr lang="pt-BR" sz="2400" dirty="0"/>
              <a:t>) dos microcontroladores STM32. Ela fornece um contador de tempo para várias aplicações, como timeouts, delays não-bloqueantes e </a:t>
            </a:r>
            <a:r>
              <a:rPr lang="pt-BR" sz="2400" b="1" dirty="0" err="1"/>
              <a:t>debounce</a:t>
            </a:r>
            <a:r>
              <a:rPr lang="pt-BR" sz="2400" b="1" dirty="0"/>
              <a:t> de botões</a:t>
            </a:r>
            <a:r>
              <a:rPr lang="pt-BR" sz="2400" dirty="0"/>
              <a:t>.</a:t>
            </a:r>
          </a:p>
          <a:p>
            <a:pPr marL="0" indent="0">
              <a:buNone/>
            </a:pPr>
            <a:r>
              <a:rPr lang="de-DE" sz="2400" b="1" dirty="0"/>
              <a:t>uint32_t HAL_GetTick(void);</a:t>
            </a:r>
            <a:endParaRPr lang="pt-BR" sz="2400" b="1" dirty="0"/>
          </a:p>
          <a:p>
            <a:pPr marL="0" indent="0">
              <a:buNone/>
            </a:pPr>
            <a:r>
              <a:rPr lang="pt-BR" sz="2400" dirty="0"/>
              <a:t>Internamente, </a:t>
            </a:r>
            <a:r>
              <a:rPr lang="pt-BR" sz="2400" dirty="0" err="1"/>
              <a:t>HAL_GetTick</a:t>
            </a:r>
            <a:r>
              <a:rPr lang="pt-BR" sz="2400" dirty="0"/>
              <a:t>() utiliza um temporizador do sistema chamado </a:t>
            </a:r>
            <a:r>
              <a:rPr lang="pt-BR" sz="2400" dirty="0" err="1"/>
              <a:t>SysTick</a:t>
            </a:r>
            <a:r>
              <a:rPr lang="pt-BR" sz="2400" dirty="0"/>
              <a:t>, que é um componente padrão dos microcontroladores ARM </a:t>
            </a:r>
            <a:r>
              <a:rPr lang="pt-BR" sz="2400" dirty="0" err="1"/>
              <a:t>Cortex</a:t>
            </a:r>
            <a:r>
              <a:rPr lang="pt-BR" sz="2400" dirty="0"/>
              <a:t>-M. O </a:t>
            </a:r>
            <a:r>
              <a:rPr lang="pt-BR" sz="2400" dirty="0" err="1"/>
              <a:t>SysTick</a:t>
            </a:r>
            <a:r>
              <a:rPr lang="pt-BR" sz="2400" dirty="0"/>
              <a:t> é um contador decrescente que gera uma interrupção em intervalos regulares, tipicamente configurado para 1 milissegundo. </a:t>
            </a:r>
          </a:p>
          <a:p>
            <a:pPr marL="0" indent="0">
              <a:buNone/>
            </a:pPr>
            <a:r>
              <a:rPr lang="pt-BR" sz="2400" dirty="0"/>
              <a:t>A função </a:t>
            </a:r>
            <a:r>
              <a:rPr lang="pt-BR" sz="2400" dirty="0" err="1"/>
              <a:t>HAL_GetTick</a:t>
            </a:r>
            <a:r>
              <a:rPr lang="pt-BR" sz="2400" dirty="0"/>
              <a:t>() simplesmente retorna o valor atual deste contador</a:t>
            </a:r>
          </a:p>
        </p:txBody>
      </p:sp>
    </p:spTree>
    <p:extLst>
      <p:ext uri="{BB962C8B-B14F-4D97-AF65-F5344CB8AC3E}">
        <p14:creationId xmlns:p14="http://schemas.microsoft.com/office/powerpoint/2010/main" val="2020729261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875</Words>
  <Application>Microsoft Office PowerPoint</Application>
  <PresentationFormat>Widescreen</PresentationFormat>
  <Paragraphs>57</Paragraphs>
  <Slides>17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1" baseType="lpstr">
      <vt:lpstr>Aptos</vt:lpstr>
      <vt:lpstr>Arial</vt:lpstr>
      <vt:lpstr>Bierstadt</vt:lpstr>
      <vt:lpstr>GestaltVTI</vt:lpstr>
      <vt:lpstr>Configuração das GPIOs no STM32F103C8T6</vt:lpstr>
      <vt:lpstr>Principais passos:</vt:lpstr>
      <vt:lpstr>Apresentação do PowerPoint</vt:lpstr>
      <vt:lpstr>Apresentação do PowerPoint</vt:lpstr>
      <vt:lpstr>Apresentação do PowerPoint</vt:lpstr>
      <vt:lpstr>Apresentação do PowerPoint</vt:lpstr>
      <vt:lpstr>HAL_GPIO_WritePin </vt:lpstr>
      <vt:lpstr>HAL_GPIO_TogglePin </vt:lpstr>
      <vt:lpstr>Apresentação do PowerPoint</vt:lpstr>
      <vt:lpstr>HAL_GPIO_ReadPin</vt:lpstr>
      <vt:lpstr>Apresentação do PowerPoint</vt:lpstr>
      <vt:lpstr>Debounce de Botão</vt:lpstr>
      <vt:lpstr>Por que o Debounce é Necessário? </vt:lpstr>
      <vt:lpstr>Debounce com Delay Simples</vt:lpstr>
      <vt:lpstr>Debounce verificando estado anterior com interlock </vt:lpstr>
      <vt:lpstr>Apresentação do PowerPoint</vt:lpstr>
      <vt:lpstr>Função HAL_GetTick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Mozart Fraga Martins</dc:creator>
  <cp:lastModifiedBy>Mozart Fraga Martins</cp:lastModifiedBy>
  <cp:revision>4</cp:revision>
  <dcterms:created xsi:type="dcterms:W3CDTF">2025-04-07T23:41:22Z</dcterms:created>
  <dcterms:modified xsi:type="dcterms:W3CDTF">2025-04-08T02:23:27Z</dcterms:modified>
</cp:coreProperties>
</file>